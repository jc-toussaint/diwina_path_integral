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6" r:id="rId3"/>
    <p:sldId id="268" r:id="rId4"/>
    <p:sldId id="271" r:id="rId5"/>
    <p:sldId id="265" r:id="rId6"/>
    <p:sldId id="264" r:id="rId7"/>
  </p:sldIdLst>
  <p:sldSz cx="9144000" cy="6858000" type="screen4x3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9665" autoAdjust="0"/>
  </p:normalViewPr>
  <p:slideViewPr>
    <p:cSldViewPr snapToGrid="0" snapToObjects="1">
      <p:cViewPr>
        <p:scale>
          <a:sx n="125" d="100"/>
          <a:sy n="125" d="100"/>
        </p:scale>
        <p:origin x="226" y="-5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1040D-76CB-8740-9E4A-E36AD678AC4B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516F-E356-6542-90DF-F187142F1B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9636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1040D-76CB-8740-9E4A-E36AD678AC4B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516F-E356-6542-90DF-F187142F1B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628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1040D-76CB-8740-9E4A-E36AD678AC4B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516F-E356-6542-90DF-F187142F1B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7671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1040D-76CB-8740-9E4A-E36AD678AC4B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516F-E356-6542-90DF-F187142F1B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0716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1040D-76CB-8740-9E4A-E36AD678AC4B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516F-E356-6542-90DF-F187142F1B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959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1040D-76CB-8740-9E4A-E36AD678AC4B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516F-E356-6542-90DF-F187142F1B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5245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1040D-76CB-8740-9E4A-E36AD678AC4B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516F-E356-6542-90DF-F187142F1B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2432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1040D-76CB-8740-9E4A-E36AD678AC4B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516F-E356-6542-90DF-F187142F1B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5326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1040D-76CB-8740-9E4A-E36AD678AC4B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516F-E356-6542-90DF-F187142F1B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36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1040D-76CB-8740-9E4A-E36AD678AC4B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516F-E356-6542-90DF-F187142F1B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1735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1040D-76CB-8740-9E4A-E36AD678AC4B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D516F-E356-6542-90DF-F187142F1B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551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1040D-76CB-8740-9E4A-E36AD678AC4B}" type="datetimeFigureOut">
              <a:rPr lang="fr-FR" smtClean="0"/>
              <a:t>10/07/2025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D516F-E356-6542-90DF-F187142F1B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5311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://www.intechopen.com/books/holography-different-fields-of-application/electron-holography-of-magnetic-materials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99" y="530166"/>
            <a:ext cx="2354279" cy="333685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3648523" y="929898"/>
            <a:ext cx="3478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Wave</a:t>
            </a:r>
            <a:r>
              <a:rPr lang="fr-FR" dirty="0"/>
              <a:t> </a:t>
            </a:r>
            <a:r>
              <a:rPr lang="fr-FR" dirty="0" err="1"/>
              <a:t>approach</a:t>
            </a:r>
            <a:r>
              <a:rPr lang="fr-FR" dirty="0"/>
              <a:t> to </a:t>
            </a:r>
            <a:r>
              <a:rPr lang="fr-FR" dirty="0" err="1"/>
              <a:t>Aharonov-Bohm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3648523" y="2477945"/>
            <a:ext cx="558409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electric action of the sample is taken into account </a:t>
            </a:r>
            <a:endParaRPr lang="en-US" dirty="0" smtClean="0"/>
          </a:p>
          <a:p>
            <a:r>
              <a:rPr lang="en-US" dirty="0" smtClean="0"/>
              <a:t>through </a:t>
            </a:r>
            <a:r>
              <a:rPr lang="en-US" dirty="0"/>
              <a:t>the </a:t>
            </a:r>
            <a:r>
              <a:rPr lang="en-US" dirty="0" smtClean="0"/>
              <a:t>mean inner potential </a:t>
            </a:r>
            <a:r>
              <a:rPr lang="en-US" dirty="0"/>
              <a:t>of the studied material.</a:t>
            </a:r>
          </a:p>
          <a:p>
            <a:endParaRPr lang="en-US" dirty="0"/>
          </a:p>
          <a:p>
            <a:r>
              <a:rPr lang="en-US" dirty="0"/>
              <a:t>The constant CE depends on the electron energy </a:t>
            </a:r>
            <a:endParaRPr lang="en-US" dirty="0" smtClean="0"/>
          </a:p>
          <a:p>
            <a:r>
              <a:rPr lang="en-US" dirty="0" smtClean="0"/>
              <a:t>and </a:t>
            </a:r>
            <a:r>
              <a:rPr lang="en-US" dirty="0"/>
              <a:t>therefore on the microscope used.</a:t>
            </a:r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523" y="1481689"/>
            <a:ext cx="4991100" cy="787400"/>
          </a:xfrm>
          <a:prstGeom prst="rect">
            <a:avLst/>
          </a:prstGeom>
        </p:spPr>
      </p:pic>
      <p:graphicFrame>
        <p:nvGraphicFramePr>
          <p:cNvPr id="10" name="Obje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751403"/>
              </p:ext>
            </p:extLst>
          </p:nvPr>
        </p:nvGraphicFramePr>
        <p:xfrm>
          <a:off x="1742497" y="4074179"/>
          <a:ext cx="812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" name="Equation" r:id="rId5" imgW="812800" imgH="203200" progId="Equation.DSMT4">
                  <p:embed/>
                </p:oleObj>
              </mc:Choice>
              <mc:Fallback>
                <p:oleObj name="Equation" r:id="rId5" imgW="812800" imgH="20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42497" y="4074179"/>
                        <a:ext cx="812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ZoneTexte 1"/>
          <p:cNvSpPr txBox="1"/>
          <p:nvPr/>
        </p:nvSpPr>
        <p:spPr>
          <a:xfrm>
            <a:off x="229159" y="4815840"/>
            <a:ext cx="88408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/>
              <a:t>Takeshi</a:t>
            </a:r>
            <a:r>
              <a:rPr lang="fr-FR" sz="1200" dirty="0"/>
              <a:t> Kasama, </a:t>
            </a:r>
            <a:r>
              <a:rPr lang="fr-FR" sz="1200" dirty="0" err="1"/>
              <a:t>Rafal</a:t>
            </a:r>
            <a:r>
              <a:rPr lang="fr-FR" sz="1200" dirty="0"/>
              <a:t> E. </a:t>
            </a:r>
            <a:r>
              <a:rPr lang="fr-FR" sz="1200" dirty="0" err="1"/>
              <a:t>Dunin-Borkowski</a:t>
            </a:r>
            <a:r>
              <a:rPr lang="fr-FR" sz="1200" dirty="0"/>
              <a:t> and Marco </a:t>
            </a:r>
            <a:r>
              <a:rPr lang="fr-FR" sz="1200" dirty="0" err="1"/>
              <a:t>Beleggia</a:t>
            </a:r>
            <a:r>
              <a:rPr lang="fr-FR" sz="1200" dirty="0"/>
              <a:t> (2011). Electron </a:t>
            </a:r>
            <a:r>
              <a:rPr lang="fr-FR" sz="1200" dirty="0" err="1"/>
              <a:t>Holography</a:t>
            </a:r>
            <a:r>
              <a:rPr lang="fr-FR" sz="1200" dirty="0"/>
              <a:t> </a:t>
            </a:r>
            <a:r>
              <a:rPr lang="fr-FR" sz="1200" dirty="0" smtClean="0"/>
              <a:t>of </a:t>
            </a:r>
            <a:r>
              <a:rPr lang="fr-FR" sz="1200" dirty="0" err="1"/>
              <a:t>Magnetic</a:t>
            </a:r>
            <a:r>
              <a:rPr lang="fr-FR" sz="1200" dirty="0"/>
              <a:t> </a:t>
            </a:r>
            <a:r>
              <a:rPr lang="fr-FR" sz="1200" dirty="0" err="1"/>
              <a:t>Materials</a:t>
            </a:r>
            <a:r>
              <a:rPr lang="fr-FR" sz="1200" dirty="0"/>
              <a:t>, </a:t>
            </a:r>
            <a:endParaRPr lang="fr-FR" sz="1200" dirty="0" smtClean="0"/>
          </a:p>
          <a:p>
            <a:r>
              <a:rPr lang="fr-FR" sz="1200" dirty="0" err="1" smtClean="0"/>
              <a:t>Holography</a:t>
            </a:r>
            <a:r>
              <a:rPr lang="fr-FR" sz="1200" dirty="0" smtClean="0"/>
              <a:t> </a:t>
            </a:r>
            <a:r>
              <a:rPr lang="fr-FR" sz="1200" dirty="0"/>
              <a:t>- </a:t>
            </a:r>
            <a:r>
              <a:rPr lang="fr-FR" sz="1200" dirty="0" err="1"/>
              <a:t>Different</a:t>
            </a:r>
            <a:r>
              <a:rPr lang="fr-FR" sz="1200" dirty="0"/>
              <a:t> Fields of Application, Dr. Freddy </a:t>
            </a:r>
            <a:r>
              <a:rPr lang="fr-FR" sz="1200" dirty="0" err="1"/>
              <a:t>Monroy</a:t>
            </a:r>
            <a:r>
              <a:rPr lang="fr-FR" sz="1200" dirty="0"/>
              <a:t> (Ed.),  </a:t>
            </a:r>
            <a:r>
              <a:rPr lang="fr-FR" sz="1200" dirty="0" smtClean="0"/>
              <a:t>ISBN</a:t>
            </a:r>
            <a:r>
              <a:rPr lang="fr-FR" sz="1200" dirty="0"/>
              <a:t>: 978-953-307-635-5, </a:t>
            </a:r>
            <a:r>
              <a:rPr lang="fr-FR" sz="1200" dirty="0" err="1"/>
              <a:t>InTech</a:t>
            </a:r>
            <a:r>
              <a:rPr lang="fr-FR" sz="1200" dirty="0"/>
              <a:t>, DOI: 10.5772/22366. </a:t>
            </a:r>
            <a:endParaRPr lang="fr-FR" sz="1200" dirty="0" smtClean="0"/>
          </a:p>
          <a:p>
            <a:r>
              <a:rPr lang="fr-FR" sz="1200" dirty="0" err="1" smtClean="0"/>
              <a:t>Available</a:t>
            </a:r>
            <a:r>
              <a:rPr lang="fr-FR" sz="1200" dirty="0" smtClean="0"/>
              <a:t> </a:t>
            </a:r>
            <a:r>
              <a:rPr lang="fr-FR" sz="1200" dirty="0" err="1"/>
              <a:t>from</a:t>
            </a:r>
            <a:r>
              <a:rPr lang="fr-FR" sz="1200" dirty="0"/>
              <a:t>: </a:t>
            </a:r>
            <a:r>
              <a:rPr lang="fr-FR" sz="1200" u="sng" dirty="0">
                <a:hlinkClick r:id="rId7"/>
              </a:rPr>
              <a:t>http://www.intechopen.com/books/holography-different-fields-of-application/electron-holography-of-magnetic-materials</a:t>
            </a:r>
          </a:p>
          <a:p>
            <a:endParaRPr lang="fr-FR" sz="1200" dirty="0"/>
          </a:p>
        </p:txBody>
      </p:sp>
      <p:sp>
        <p:nvSpPr>
          <p:cNvPr id="3" name="ZoneTexte 2"/>
          <p:cNvSpPr txBox="1"/>
          <p:nvPr/>
        </p:nvSpPr>
        <p:spPr>
          <a:xfrm>
            <a:off x="270572" y="5646837"/>
            <a:ext cx="86637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/>
              <a:t>Rafal</a:t>
            </a:r>
            <a:r>
              <a:rPr lang="fr-FR" sz="1200" dirty="0"/>
              <a:t> E. </a:t>
            </a:r>
            <a:r>
              <a:rPr lang="fr-FR" sz="1200" dirty="0" err="1"/>
              <a:t>Dunin-Borkowski</a:t>
            </a:r>
            <a:r>
              <a:rPr lang="fr-FR" sz="1200" dirty="0"/>
              <a:t>, </a:t>
            </a:r>
            <a:r>
              <a:rPr lang="fr-FR" sz="1200" dirty="0" err="1"/>
              <a:t>Takeshi</a:t>
            </a:r>
            <a:r>
              <a:rPr lang="fr-FR" sz="1200" dirty="0"/>
              <a:t> Kasama, Marco </a:t>
            </a:r>
            <a:r>
              <a:rPr lang="fr-FR" sz="1200" dirty="0" err="1"/>
              <a:t>Beleggia</a:t>
            </a:r>
            <a:r>
              <a:rPr lang="fr-FR" sz="1200" dirty="0"/>
              <a:t>, Giulio </a:t>
            </a:r>
            <a:r>
              <a:rPr lang="fr-FR" sz="1200" dirty="0" err="1"/>
              <a:t>Pozzi</a:t>
            </a:r>
            <a:r>
              <a:rPr lang="fr-FR" sz="1200" dirty="0"/>
              <a:t>, Ch.6: Lorentz </a:t>
            </a:r>
            <a:r>
              <a:rPr lang="fr-FR" sz="1200" dirty="0" err="1"/>
              <a:t>Microscopy</a:t>
            </a:r>
            <a:r>
              <a:rPr lang="fr-FR" sz="1200" dirty="0"/>
              <a:t> and Electron </a:t>
            </a:r>
            <a:r>
              <a:rPr lang="fr-FR" sz="1200" dirty="0" err="1"/>
              <a:t>Holography</a:t>
            </a:r>
            <a:r>
              <a:rPr lang="fr-FR" sz="1200" dirty="0"/>
              <a:t> of </a:t>
            </a:r>
            <a:r>
              <a:rPr lang="fr-FR" sz="1200" dirty="0" err="1"/>
              <a:t>Magnetic</a:t>
            </a:r>
            <a:r>
              <a:rPr lang="fr-FR" sz="1200" dirty="0"/>
              <a:t> </a:t>
            </a:r>
            <a:endParaRPr lang="fr-FR" sz="1200" dirty="0" smtClean="0"/>
          </a:p>
          <a:p>
            <a:r>
              <a:rPr lang="fr-FR" sz="1200" dirty="0" err="1" smtClean="0"/>
              <a:t>Materials</a:t>
            </a:r>
            <a:r>
              <a:rPr lang="fr-FR" sz="1200" dirty="0"/>
              <a:t>, in </a:t>
            </a:r>
            <a:r>
              <a:rPr lang="fr-FR" sz="1200" dirty="0" err="1"/>
              <a:t>Handbook</a:t>
            </a:r>
            <a:r>
              <a:rPr lang="fr-FR" sz="1200" dirty="0"/>
              <a:t> of </a:t>
            </a:r>
            <a:r>
              <a:rPr lang="fr-FR" sz="1200" dirty="0" err="1"/>
              <a:t>Nanoscopy</a:t>
            </a:r>
            <a:r>
              <a:rPr lang="fr-FR" sz="1200" dirty="0"/>
              <a:t>, Vol.1, </a:t>
            </a:r>
            <a:r>
              <a:rPr lang="fr-FR" sz="1200" dirty="0" err="1"/>
              <a:t>Gustaaf</a:t>
            </a:r>
            <a:r>
              <a:rPr lang="fr-FR" sz="1200" dirty="0"/>
              <a:t> Van </a:t>
            </a:r>
            <a:r>
              <a:rPr lang="fr-FR" sz="1200" dirty="0" err="1"/>
              <a:t>Tendeloo</a:t>
            </a:r>
            <a:r>
              <a:rPr lang="fr-FR" sz="1200" dirty="0"/>
              <a:t>, Dirk Van Dyck, Stephen J. </a:t>
            </a:r>
            <a:r>
              <a:rPr lang="fr-FR" sz="1200" dirty="0" err="1"/>
              <a:t>Pennycook</a:t>
            </a:r>
            <a:r>
              <a:rPr lang="fr-FR" sz="1200" dirty="0"/>
              <a:t>, </a:t>
            </a:r>
            <a:r>
              <a:rPr lang="fr-FR" sz="1200" dirty="0" err="1"/>
              <a:t>Eds</a:t>
            </a:r>
            <a:r>
              <a:rPr lang="fr-FR" sz="1200" dirty="0"/>
              <a:t>, </a:t>
            </a:r>
            <a:r>
              <a:rPr lang="fr-FR" sz="1200" dirty="0" err="1"/>
              <a:t>Wiley</a:t>
            </a:r>
            <a:r>
              <a:rPr lang="fr-FR" sz="1200" dirty="0"/>
              <a:t>-VCH (2012)</a:t>
            </a:r>
          </a:p>
          <a:p>
            <a:r>
              <a:rPr lang="fr-FR" sz="1200" dirty="0" smtClean="0"/>
              <a:t>DOI</a:t>
            </a:r>
            <a:r>
              <a:rPr lang="fr-FR" sz="1200" dirty="0"/>
              <a:t>: 10.1002/9783527641864.ch6</a:t>
            </a:r>
          </a:p>
          <a:p>
            <a:r>
              <a:rPr lang="hu-HU" sz="1200" dirty="0" smtClean="0"/>
              <a:t>Print </a:t>
            </a:r>
            <a:r>
              <a:rPr lang="hu-HU" sz="1200" dirty="0"/>
              <a:t>ISBN: </a:t>
            </a:r>
            <a:r>
              <a:rPr lang="hu-HU" sz="1200" dirty="0" smtClean="0"/>
              <a:t>9783527317066	Online </a:t>
            </a:r>
            <a:r>
              <a:rPr lang="hu-HU" sz="1200" dirty="0"/>
              <a:t>ISBN: </a:t>
            </a:r>
            <a:r>
              <a:rPr lang="hu-HU" sz="1200" dirty="0" smtClean="0"/>
              <a:t>9783527641864</a:t>
            </a:r>
            <a:endParaRPr lang="hu-HU" sz="1200" dirty="0"/>
          </a:p>
        </p:txBody>
      </p:sp>
      <p:sp>
        <p:nvSpPr>
          <p:cNvPr id="11" name="ZoneTexte 10"/>
          <p:cNvSpPr txBox="1"/>
          <p:nvPr/>
        </p:nvSpPr>
        <p:spPr>
          <a:xfrm>
            <a:off x="2755532" y="146638"/>
            <a:ext cx="31726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Electron </a:t>
            </a:r>
            <a:r>
              <a:rPr lang="fr-FR" sz="2800" dirty="0" err="1" smtClean="0"/>
              <a:t>Holography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65015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nw_flu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461" y="914401"/>
            <a:ext cx="5363678" cy="3271520"/>
          </a:xfrm>
          <a:prstGeom prst="rect">
            <a:avLst/>
          </a:prstGeom>
        </p:spPr>
      </p:pic>
      <p:sp>
        <p:nvSpPr>
          <p:cNvPr id="5" name="Titre 3"/>
          <p:cNvSpPr txBox="1">
            <a:spLocks noGrp="1"/>
          </p:cNvSpPr>
          <p:nvPr>
            <p:ph type="title"/>
          </p:nvPr>
        </p:nvSpPr>
        <p:spPr>
          <a:xfrm>
            <a:off x="733481" y="322918"/>
            <a:ext cx="6965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First approach to calculate the magnetic phase</a:t>
            </a:r>
            <a:endParaRPr lang="fr-FR" sz="2800" dirty="0"/>
          </a:p>
        </p:txBody>
      </p:sp>
      <p:sp>
        <p:nvSpPr>
          <p:cNvPr id="8" name="ZoneTexte 7"/>
          <p:cNvSpPr txBox="1"/>
          <p:nvPr/>
        </p:nvSpPr>
        <p:spPr>
          <a:xfrm>
            <a:off x="371465" y="5245005"/>
            <a:ext cx="4383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Biziere</a:t>
            </a:r>
            <a:r>
              <a:rPr lang="fr-FR" dirty="0"/>
              <a:t> </a:t>
            </a:r>
            <a:r>
              <a:rPr lang="fr-FR" dirty="0" smtClean="0"/>
              <a:t>et al, </a:t>
            </a:r>
            <a:r>
              <a:rPr lang="hu-HU" dirty="0"/>
              <a:t>Nano Lett. 2013, 13, 2053−2057 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156" y="4254184"/>
            <a:ext cx="5057140" cy="971479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365760" y="4521200"/>
            <a:ext cx="2197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Pure 3D </a:t>
            </a:r>
            <a:r>
              <a:rPr lang="fr-FR" dirty="0" err="1" smtClean="0"/>
              <a:t>calculations</a:t>
            </a:r>
            <a:r>
              <a:rPr lang="fr-FR" dirty="0" smtClean="0"/>
              <a:t>, 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365760" y="5742144"/>
            <a:ext cx="76712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>
                <a:latin typeface="Euclid" panose="02020503060505020303" pitchFamily="18" charset="0"/>
              </a:rPr>
              <a:t>One </a:t>
            </a:r>
            <a:r>
              <a:rPr lang="en-US" dirty="0">
                <a:latin typeface="Euclid" panose="02020503060505020303" pitchFamily="18" charset="0"/>
              </a:rPr>
              <a:t>must compute the flux through the vertical surface for each point </a:t>
            </a:r>
            <a:endParaRPr lang="en-US" dirty="0" smtClean="0">
              <a:latin typeface="Euclid" panose="02020503060505020303" pitchFamily="18" charset="0"/>
            </a:endParaRPr>
          </a:p>
          <a:p>
            <a:r>
              <a:rPr lang="en-US" dirty="0" smtClean="0">
                <a:latin typeface="Euclid" panose="02020503060505020303" pitchFamily="18" charset="0"/>
              </a:rPr>
              <a:t>of </a:t>
            </a:r>
            <a:r>
              <a:rPr lang="en-US" dirty="0">
                <a:latin typeface="Euclid" panose="02020503060505020303" pitchFamily="18" charset="0"/>
              </a:rPr>
              <a:t>the horizontal plane. </a:t>
            </a:r>
            <a:r>
              <a:rPr lang="en-US" dirty="0" smtClean="0">
                <a:latin typeface="Euclid" panose="02020503060505020303" pitchFamily="18" charset="0"/>
              </a:rPr>
              <a:t>These </a:t>
            </a:r>
            <a:r>
              <a:rPr lang="en-US" dirty="0">
                <a:latin typeface="Euclid" panose="02020503060505020303" pitchFamily="18" charset="0"/>
              </a:rPr>
              <a:t>calculations are highly time-consuming</a:t>
            </a:r>
            <a:r>
              <a:rPr lang="fr-FR" dirty="0" smtClean="0">
                <a:latin typeface="Euclid" panose="02020503060505020303" pitchFamily="18" charset="0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Euclid" panose="02020503060505020303" pitchFamily="18" charset="0"/>
              </a:rPr>
              <a:t>The support D must be large enough to limit finite-size effects.</a:t>
            </a:r>
            <a:endParaRPr lang="fr-FR" dirty="0">
              <a:latin typeface="Euclid" panose="0202050306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07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3"/>
          <p:cNvSpPr txBox="1">
            <a:spLocks noGrp="1"/>
          </p:cNvSpPr>
          <p:nvPr>
            <p:ph type="title"/>
          </p:nvPr>
        </p:nvSpPr>
        <p:spPr>
          <a:xfrm>
            <a:off x="515056" y="322918"/>
            <a:ext cx="7402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Second </a:t>
            </a:r>
            <a:r>
              <a:rPr lang="en-US" sz="2800" dirty="0"/>
              <a:t>approach to calculate the magnetic phase</a:t>
            </a:r>
            <a:endParaRPr lang="fr-FR" sz="2800" dirty="0"/>
          </a:p>
        </p:txBody>
      </p:sp>
      <p:sp>
        <p:nvSpPr>
          <p:cNvPr id="11" name="ZoneTexte 10"/>
          <p:cNvSpPr txBox="1"/>
          <p:nvPr/>
        </p:nvSpPr>
        <p:spPr>
          <a:xfrm>
            <a:off x="515056" y="1072642"/>
            <a:ext cx="680827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dirty="0" smtClean="0">
                <a:latin typeface="Euclid" panose="02020503060505020303" pitchFamily="18" charset="0"/>
              </a:rPr>
              <a:t> </a:t>
            </a:r>
            <a:r>
              <a:rPr lang="en-US" dirty="0">
                <a:latin typeface="Euclid" panose="02020503060505020303" pitchFamily="18" charset="0"/>
              </a:rPr>
              <a:t>Reducing the problem from 3D to 2D yields </a:t>
            </a:r>
            <a:endParaRPr lang="en-US" dirty="0" smtClean="0">
              <a:latin typeface="Euclid" panose="02020503060505020303" pitchFamily="18" charset="0"/>
            </a:endParaRPr>
          </a:p>
          <a:p>
            <a:r>
              <a:rPr lang="en-US" dirty="0" smtClean="0">
                <a:latin typeface="Euclid" panose="02020503060505020303" pitchFamily="18" charset="0"/>
              </a:rPr>
              <a:t>a </a:t>
            </a:r>
            <a:r>
              <a:rPr lang="en-US" dirty="0">
                <a:latin typeface="Euclid" panose="02020503060505020303" pitchFamily="18" charset="0"/>
              </a:rPr>
              <a:t>significant reduction in computational </a:t>
            </a:r>
            <a:r>
              <a:rPr lang="en-US" dirty="0" smtClean="0">
                <a:latin typeface="Euclid" panose="02020503060505020303" pitchFamily="18" charset="0"/>
              </a:rPr>
              <a:t>cost.</a:t>
            </a:r>
          </a:p>
          <a:p>
            <a:endParaRPr lang="fr-FR" dirty="0" smtClean="0">
              <a:latin typeface="Euclid" panose="02020503060505020303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fr-FR" dirty="0">
                <a:latin typeface="Euclid" panose="02020503060505020303" pitchFamily="18" charset="0"/>
              </a:rPr>
              <a:t> </a:t>
            </a:r>
            <a:r>
              <a:rPr lang="en-US" dirty="0">
                <a:latin typeface="Euclid" panose="02020503060505020303" pitchFamily="18" charset="0"/>
              </a:rPr>
              <a:t>The size effects are not due to the phase calculation </a:t>
            </a:r>
            <a:endParaRPr lang="en-US" dirty="0" smtClean="0">
              <a:latin typeface="Euclid" panose="02020503060505020303" pitchFamily="18" charset="0"/>
            </a:endParaRPr>
          </a:p>
          <a:p>
            <a:r>
              <a:rPr lang="en-US" dirty="0" smtClean="0">
                <a:latin typeface="Euclid" panose="02020503060505020303" pitchFamily="18" charset="0"/>
              </a:rPr>
              <a:t>but </a:t>
            </a:r>
            <a:r>
              <a:rPr lang="en-US" dirty="0">
                <a:latin typeface="Euclid" panose="02020503060505020303" pitchFamily="18" charset="0"/>
              </a:rPr>
              <a:t>rather to the finite size of the </a:t>
            </a:r>
            <a:r>
              <a:rPr lang="en-US" dirty="0" err="1">
                <a:latin typeface="Euclid" panose="02020503060505020303" pitchFamily="18" charset="0"/>
              </a:rPr>
              <a:t>micromagnetic</a:t>
            </a:r>
            <a:r>
              <a:rPr lang="en-US" dirty="0">
                <a:latin typeface="Euclid" panose="02020503060505020303" pitchFamily="18" charset="0"/>
              </a:rPr>
              <a:t> system</a:t>
            </a:r>
            <a:r>
              <a:rPr lang="en-US" dirty="0" smtClean="0">
                <a:latin typeface="Euclid" panose="02020503060505020303" pitchFamily="18" charset="0"/>
              </a:rPr>
              <a:t>.</a:t>
            </a:r>
          </a:p>
          <a:p>
            <a:endParaRPr lang="fr-FR" dirty="0">
              <a:latin typeface="Euclid" panose="02020503060505020303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latin typeface="Euclid" panose="02020503060505020303" pitchFamily="18" charset="0"/>
              </a:rPr>
              <a:t>One implements </a:t>
            </a:r>
            <a:r>
              <a:rPr lang="en-US" dirty="0">
                <a:latin typeface="Euclid" panose="02020503060505020303" pitchFamily="18" charset="0"/>
              </a:rPr>
              <a:t>a 2D integral method that requires </a:t>
            </a:r>
            <a:endParaRPr lang="en-US" dirty="0" smtClean="0">
              <a:latin typeface="Euclid" panose="02020503060505020303" pitchFamily="18" charset="0"/>
            </a:endParaRPr>
          </a:p>
          <a:p>
            <a:r>
              <a:rPr lang="en-US" dirty="0" smtClean="0">
                <a:latin typeface="Euclid" panose="02020503060505020303" pitchFamily="18" charset="0"/>
              </a:rPr>
              <a:t>computing </a:t>
            </a:r>
            <a:r>
              <a:rPr lang="en-US" dirty="0">
                <a:latin typeface="Euclid" panose="02020503060505020303" pitchFamily="18" charset="0"/>
              </a:rPr>
              <a:t>an integral of the magnetization along the beam path.</a:t>
            </a:r>
            <a:endParaRPr lang="fr-FR" dirty="0">
              <a:latin typeface="Euclid" panose="02020503060505020303" pitchFamily="18" charset="0"/>
            </a:endParaRPr>
          </a:p>
        </p:txBody>
      </p:sp>
      <p:pic>
        <p:nvPicPr>
          <p:cNvPr id="2" name="Image 1" descr="nw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159" y="3447550"/>
            <a:ext cx="3920980" cy="218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3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338" y="492369"/>
            <a:ext cx="7847314" cy="4772571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338" y="5865564"/>
            <a:ext cx="7523047" cy="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4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24" y="3063461"/>
            <a:ext cx="4875855" cy="29337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279" y="2908521"/>
            <a:ext cx="3026677" cy="3088640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383742" y="505192"/>
            <a:ext cx="5703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Cas test : sphère à aimantation de type curling dans le plan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972820"/>
            <a:ext cx="7305040" cy="135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095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r="21949"/>
          <a:stretch/>
        </p:blipFill>
        <p:spPr>
          <a:xfrm>
            <a:off x="505662" y="1117600"/>
            <a:ext cx="3779520" cy="3390900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586942" y="348059"/>
            <a:ext cx="5723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With an </a:t>
            </a:r>
            <a:r>
              <a:rPr lang="en-US" sz="2000" dirty="0"/>
              <a:t>ansatz for the </a:t>
            </a:r>
            <a:r>
              <a:rPr lang="en-US" sz="2000" dirty="0" smtClean="0"/>
              <a:t>TW magnetization </a:t>
            </a:r>
            <a:r>
              <a:rPr lang="en-US" sz="2000" dirty="0"/>
              <a:t>distribution</a:t>
            </a:r>
            <a:endParaRPr lang="fr-FR" sz="20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3"/>
          <a:srcRect r="21609"/>
          <a:stretch/>
        </p:blipFill>
        <p:spPr>
          <a:xfrm>
            <a:off x="5039361" y="1084421"/>
            <a:ext cx="3830319" cy="3424079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7898064" y="1314707"/>
            <a:ext cx="346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e</a:t>
            </a:r>
            <a:r>
              <a:rPr lang="fr-FR" baseline="30000" dirty="0" smtClean="0">
                <a:solidFill>
                  <a:srgbClr val="FF0000"/>
                </a:solidFill>
              </a:rPr>
              <a:t>-</a:t>
            </a: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967" y="4653348"/>
            <a:ext cx="6959906" cy="137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930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09.674"/>
  <p:tag name="ORIGINALWIDTH" val="4290.964"/>
  <p:tag name="OUTPUTTYPE" val="PNG"/>
  <p:tag name="IGUANATEXVERSION" val="161"/>
  <p:tag name="LATEXADDIN" val="\documentclass{article}&#10;\usepackage {amsmath}&#10;\usepackage {graphicx}&#10;\usepackage[utf8]{inputenc} &#10;\usepackage[francais]{babel}&#10;\usepackage{fancyhdr}&#10;\usepackage{setspace}&#10;\usepackage{fancyhdr}&#10;\usepackage{lastpage}&#10;\usepackage{extramarks}&#10;\usepackage{chngpage}&#10;\usepackage{soul}&#10;\usepackage[usenames,dvipsnames]{color}&#10;\usepackage{graphicx,float,wrapfig}&#10;\usepackage{ifthen}&#10;\usepackage{listings}&#10;\usepackage{courier}&#10;\usepackage{esint}&#10;\usepackage{bbm}&#10;\usepackage{graphics}&#10;\usepackage{graphicx}&#10;\usepackage{subfig}&#10;\usepackage{epsfig}&#10;\usepackage{pgf,tikz}&#10;\usetikzlibrary{arrows}&#10;\usepackage{braket}&#10;\usepackage{MnSymbol,wasysym}&#10;\usepackage{marvosym}&#10;\usepackage{fancyvrb}&#10;\pagestyle{empty}&#10;\begin{document}&#10;&#10;It allows us to compute the circulation of ${\bf A}$ along a vertical path crossing the (Oxy) plane at $q(x,y)$:&#10;&#10;\begin{equation}&#10;\Gamma(q) = \int_{-\infty}^{+\infty} dz_Q ~ A_z (Q)= \frac{\mu_0}{4\pi}\int {d^3r_P} ~ \left({e_z} \times M(P)\right) \cdot   \int_{-\infty}^{+\infty} dz_Q ~ \frac{{PQ}}{|{PQ}|^3}&#10;\label{Az}\end{equation}&#10;&#10;&#10;To simplify subsequent calculations, we define the normalized magnetization ${m}_\perp(p)$, orthogonal to Oz, as follows : &#10;&#10;\begin{equation}&#10;{m}_\perp(p) = \frac{1}{M_\mathrm{s} ~ t(p)}  ~ {e_z} \times  \int_{-\infty}^{+\infty} {dz} ~ M(P)&#10;\label{mperp} =  \frac{1}{M_\mathrm{s} ~ t(p)}  ~ {e_z} \times  \mathcal{M}(x,y)&#10;\end{equation}&#10;&#10;\noindent where $t(p)$ is the thickness of the magnetic material at the point $p(x,y)$, the orthogonal projection of P onto the (Oxy) plane.&#10;&#10;After applying Gauss's theorem to the last integral, one obtains:&#10;&#10;\begin{equation}&#10;\Gamma (q)= -\frac{\mu_0 M_s}{2\pi}\int\limits_{\mathbbm{R}^2} {dx_p\; dy_p} ~ t(p) \ m_\perp(p) \cdot \frac{{pq}}{|{pq}|^2}&#10;\end{equation}&#10;&#10;&#10;\end{document}"/>
  <p:tag name="IGUANATEXSIZE" val="18"/>
  <p:tag name="IGUANATEXCURSOR" val="1596"/>
  <p:tag name="TRANSPARENCY" val="Vrai"/>
  <p:tag name="FILENAME" val=""/>
  <p:tag name="LATEXENGINEID" val="0"/>
  <p:tag name="TEMPFOLDER" val="c:\temp\"/>
  <p:tag name="LATEXFORMHEIGHT" val="409.8"/>
  <p:tag name="LATEXFORMWIDTH" val="642"/>
  <p:tag name="LATEXFORMWRAP" val="Vrai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1.2336"/>
  <p:tag name="ORIGINALWIDTH" val="3702.287"/>
  <p:tag name="OUTPUTTYPE" val="PNG"/>
  <p:tag name="IGUANATEXVERSION" val="161"/>
  <p:tag name="LATEXADDIN" val="\documentclass{article}&#10;\usepackage{amsmath}&#10;\pagestyle{empty}&#10;\begin{document}&#10;&#10;&#10;In electron holography, the magnetic phase is defined by&#10;$\phi_m = -\frac{e}{\hbar} \Gamma$&#10;&#10;\end{document}"/>
  <p:tag name="IGUANATEXSIZE" val="20"/>
  <p:tag name="IGUANATEXCURSOR" val="173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292</Words>
  <Application>Microsoft Office PowerPoint</Application>
  <PresentationFormat>Affichage à l'écran (4:3)</PresentationFormat>
  <Paragraphs>32</Paragraphs>
  <Slides>6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Euclid</vt:lpstr>
      <vt:lpstr>Thème Office</vt:lpstr>
      <vt:lpstr>Equation</vt:lpstr>
      <vt:lpstr>Présentation PowerPoint</vt:lpstr>
      <vt:lpstr>First approach to calculate the magnetic phase</vt:lpstr>
      <vt:lpstr>Second approach to calculate the magnetic phase</vt:lpstr>
      <vt:lpstr>Présentation PowerPoint</vt:lpstr>
      <vt:lpstr>Présentation PowerPoint</vt:lpstr>
      <vt:lpstr>Présentation PowerPoint</vt:lpstr>
    </vt:vector>
  </TitlesOfParts>
  <Company>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Holographie</dc:title>
  <dc:creator>JC X</dc:creator>
  <cp:lastModifiedBy>toussaij</cp:lastModifiedBy>
  <cp:revision>93</cp:revision>
  <dcterms:created xsi:type="dcterms:W3CDTF">2013-08-26T09:21:34Z</dcterms:created>
  <dcterms:modified xsi:type="dcterms:W3CDTF">2025-07-10T05:23:21Z</dcterms:modified>
</cp:coreProperties>
</file>